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24" r:id="rId2"/>
    <p:sldId id="7182" r:id="rId3"/>
    <p:sldId id="7183" r:id="rId4"/>
    <p:sldId id="7184" r:id="rId5"/>
    <p:sldId id="7185" r:id="rId6"/>
    <p:sldId id="7186" r:id="rId7"/>
    <p:sldId id="7187" r:id="rId8"/>
    <p:sldId id="7189" r:id="rId9"/>
    <p:sldId id="7190" r:id="rId10"/>
    <p:sldId id="7192" r:id="rId11"/>
    <p:sldId id="7193" r:id="rId12"/>
    <p:sldId id="7188" r:id="rId13"/>
  </p:sldIdLst>
  <p:sldSz cx="9144000" cy="6858000" type="screen4x3"/>
  <p:notesSz cx="6797675" cy="992663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株式会社識学" initials="株式会社識学" lastIdx="0" clrIdx="0">
    <p:extLst>
      <p:ext uri="{19B8F6BF-5375-455C-9EA6-DF929625EA0E}">
        <p15:presenceInfo xmlns:p15="http://schemas.microsoft.com/office/powerpoint/2012/main" userId="94510cadf11ac5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AA31"/>
    <a:srgbClr val="66CCFF"/>
    <a:srgbClr val="0000FF"/>
    <a:srgbClr val="00FF00"/>
    <a:srgbClr val="FCD1C4"/>
    <a:srgbClr val="FDE3DB"/>
    <a:srgbClr val="FABCA8"/>
    <a:srgbClr val="FFFFCC"/>
    <a:srgbClr val="FFFF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37" autoAdjust="0"/>
    <p:restoredTop sz="94655" autoAdjust="0"/>
  </p:normalViewPr>
  <p:slideViewPr>
    <p:cSldViewPr showGuides="1">
      <p:cViewPr varScale="1">
        <p:scale>
          <a:sx n="59" d="100"/>
          <a:sy n="59" d="100"/>
        </p:scale>
        <p:origin x="179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36A84-A686-458A-8258-27E00F9D7625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4823A-9C4E-4F8F-8793-04712FA73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0615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3" tIns="45712" rIns="91423" bIns="4571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BD3DFF-0DAA-43A4-BE2D-9ED5B8E77A73}" type="datetimeFigureOut">
              <a:rPr lang="ja-JP" altLang="en-US"/>
              <a:pPr>
                <a:defRPr/>
              </a:pPr>
              <a:t>2025/5/27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3" tIns="45712" rIns="91423" bIns="45712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23" tIns="45712" rIns="91423" bIns="45712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23" tIns="45712" rIns="91423" bIns="4571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035DEC-FBB5-496A-A28E-EF3850ADBC9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53224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836712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タイトル 10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36712"/>
          </a:xfrm>
          <a:prstGeom prst="rect">
            <a:avLst/>
          </a:prstGeom>
        </p:spPr>
        <p:txBody>
          <a:bodyPr anchor="ctr"/>
          <a:lstStyle>
            <a:lvl1pPr algn="l"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1911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836712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 userDrawn="1"/>
        </p:nvSpPr>
        <p:spPr>
          <a:xfrm>
            <a:off x="179512" y="951111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sz="18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1" name="タイトル 10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36712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1"/>
          </p:nvPr>
        </p:nvSpPr>
        <p:spPr>
          <a:xfrm>
            <a:off x="0" y="836613"/>
            <a:ext cx="9144000" cy="483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6470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4"/>
          </p:nvPr>
        </p:nvSpPr>
        <p:spPr>
          <a:xfrm>
            <a:off x="6979096" y="637624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B52813C-ED6C-45D3-ADEB-A66D9BDE65B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5" name="図 4" descr="図形&#10;&#10;中程度の精度で自動的に生成された説明">
            <a:extLst>
              <a:ext uri="{FF2B5EF4-FFF2-40B4-BE49-F238E27FC236}">
                <a16:creationId xmlns:a16="http://schemas.microsoft.com/office/drawing/2014/main" id="{54FD8111-CEF2-41ED-86B5-29B63CB7D9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78"/>
          <a:stretch/>
        </p:blipFill>
        <p:spPr>
          <a:xfrm>
            <a:off x="107504" y="6073457"/>
            <a:ext cx="834658" cy="66791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E588A0-C2A4-40DF-BA08-0334AF900F82}"/>
              </a:ext>
            </a:extLst>
          </p:cNvPr>
          <p:cNvSpPr/>
          <p:nvPr userDrawn="1"/>
        </p:nvSpPr>
        <p:spPr>
          <a:xfrm>
            <a:off x="0" y="-1594"/>
            <a:ext cx="9144000" cy="864000"/>
          </a:xfrm>
          <a:prstGeom prst="rect">
            <a:avLst/>
          </a:prstGeom>
          <a:solidFill>
            <a:srgbClr val="0B1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40" r:id="rId1"/>
    <p:sldLayoutId id="2147484741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C327AB7-B8CE-4043-84D4-6A4610968534}"/>
              </a:ext>
            </a:extLst>
          </p:cNvPr>
          <p:cNvSpPr txBox="1"/>
          <p:nvPr/>
        </p:nvSpPr>
        <p:spPr>
          <a:xfrm>
            <a:off x="-108520" y="1484784"/>
            <a:ext cx="9143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株式会社</a:t>
            </a:r>
            <a:r>
              <a:rPr kumimoji="1" lang="en-US" altLang="ja-JP" sz="6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every</a:t>
            </a:r>
          </a:p>
          <a:p>
            <a:pPr algn="ctr"/>
            <a:endParaRPr lang="en-US" altLang="ja-JP" sz="6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kumimoji="1" lang="ja-JP" altLang="en-US" sz="6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採用面接での注意点</a:t>
            </a:r>
            <a:endParaRPr kumimoji="1" lang="en-US" altLang="ja-JP" sz="6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6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面接官向け資料</a:t>
            </a:r>
            <a:endParaRPr lang="en-US" altLang="ja-JP" sz="6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850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C5D5C2-380F-9A1E-3987-FBE59E5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56D0C0-08AC-3D72-79ED-B129A58EC1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3200" dirty="0">
                <a:solidFill>
                  <a:schemeClr val="bg1"/>
                </a:solidFill>
              </a:rPr>
              <a:t>はじめに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3016B3-82F6-3CC1-D291-C2FE2A619132}"/>
              </a:ext>
            </a:extLst>
          </p:cNvPr>
          <p:cNvSpPr txBox="1"/>
          <p:nvPr/>
        </p:nvSpPr>
        <p:spPr>
          <a:xfrm>
            <a:off x="1403648" y="1412776"/>
            <a:ext cx="67576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採用面接において企業が気を付けるべき点について、労働基準監督署（厚生労働省）が発信しているガイドラインや、近年の法改正・通達を踏まえてまとめます。特に、</a:t>
            </a:r>
            <a:r>
              <a:rPr lang="ja-JP" altLang="en-US" sz="2800" b="1" dirty="0"/>
              <a:t>応募者のプライバシーや人権を尊重しない質問や対応は、法的・社会的リスクを伴います</a:t>
            </a:r>
            <a:r>
              <a:rPr lang="ja-JP" altLang="en-US" sz="2800" dirty="0"/>
              <a:t>ので、以下に示す</a:t>
            </a:r>
            <a:r>
              <a:rPr lang="en-US" altLang="ja-JP" sz="2800" dirty="0"/>
              <a:t>NG</a:t>
            </a:r>
            <a:r>
              <a:rPr lang="ja-JP" altLang="en-US" sz="2800" dirty="0"/>
              <a:t>行為と対応策を参考にしてください。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29509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D4E0-7BB5-1FBC-E3F6-642B55D1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82CBD8-1AB5-8550-187F-0B12C6E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81BB06-E780-5066-D5D0-F5DD0C10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2000" dirty="0">
                <a:solidFill>
                  <a:schemeClr val="bg1"/>
                </a:solidFill>
              </a:rPr>
              <a:t>採用面接で気をつけるべき基本ポイント（厚生労働省ガイドラインより）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C543ED-AEA0-F74C-8672-CFDC42C4D5CF}"/>
              </a:ext>
            </a:extLst>
          </p:cNvPr>
          <p:cNvSpPr txBox="1"/>
          <p:nvPr/>
        </p:nvSpPr>
        <p:spPr>
          <a:xfrm>
            <a:off x="179512" y="1013154"/>
            <a:ext cx="89644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800" b="1" dirty="0"/>
              <a:t>■業務に直接関係ない事項の質問は</a:t>
            </a:r>
            <a:r>
              <a:rPr lang="en-US" altLang="ja-JP" sz="2800" b="1" dirty="0"/>
              <a:t>NG</a:t>
            </a:r>
          </a:p>
          <a:p>
            <a:pPr>
              <a:buNone/>
            </a:pPr>
            <a:r>
              <a:rPr lang="ja-JP" altLang="en-US" sz="2800" dirty="0"/>
              <a:t>「公正な採用選考の基本」を基に、以下の項目に関する質問は、</a:t>
            </a:r>
            <a:r>
              <a:rPr lang="ja-JP" altLang="en-US" sz="2800" b="1" dirty="0"/>
              <a:t>原則として禁止または慎重対応が必要</a:t>
            </a:r>
            <a:r>
              <a:rPr lang="ja-JP" altLang="en-US" sz="2800" dirty="0"/>
              <a:t>です。</a:t>
            </a:r>
            <a:endParaRPr lang="en-US" altLang="ja-JP" sz="2800" dirty="0"/>
          </a:p>
          <a:p>
            <a:pPr>
              <a:buNone/>
            </a:pPr>
            <a:endParaRPr lang="ja-JP" altLang="en-US" sz="2800" dirty="0"/>
          </a:p>
          <a:p>
            <a:pPr>
              <a:buNone/>
            </a:pPr>
            <a:r>
              <a:rPr lang="ja-JP" altLang="en-US" sz="2800" b="1" dirty="0"/>
              <a:t>❌ </a:t>
            </a:r>
            <a:r>
              <a:rPr lang="en-US" altLang="ja-JP" sz="2800" b="1" dirty="0"/>
              <a:t>NG</a:t>
            </a:r>
            <a:r>
              <a:rPr lang="ja-JP" altLang="en-US" sz="2800" b="1" dirty="0"/>
              <a:t>質問の具体例：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本籍・出生地：「どこの出身ですか？」「田舎はどこですか？」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家族構成・職業・収入：「ご両親は何をされてますか？」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宗教・思想：「休日は教会に行きますか？」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結婚・妊娠・出産：「今後結婚の予定は？」「子供は希望してますか？」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住宅状況：「持ち家ですか？賃貸ですか？」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/>
              <a:t>生活保護受給歴・障害の有無</a:t>
            </a:r>
          </a:p>
        </p:txBody>
      </p:sp>
    </p:spTree>
    <p:extLst>
      <p:ext uri="{BB962C8B-B14F-4D97-AF65-F5344CB8AC3E}">
        <p14:creationId xmlns:p14="http://schemas.microsoft.com/office/powerpoint/2010/main" val="413879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7874-ECC4-F894-E074-B7E7DE6B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9AE2F-79D8-F3EB-3FB3-750357F3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D55E3C-EFB9-C4BC-C97D-2C7A242EF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2800" dirty="0">
                <a:solidFill>
                  <a:schemeClr val="bg1"/>
                </a:solidFill>
              </a:rPr>
              <a:t>最新トピックス：法改正・通達等（</a:t>
            </a:r>
            <a:r>
              <a:rPr lang="en-US" altLang="ja-JP" sz="2800" dirty="0">
                <a:solidFill>
                  <a:schemeClr val="bg1"/>
                </a:solidFill>
              </a:rPr>
              <a:t>2023</a:t>
            </a:r>
            <a:r>
              <a:rPr lang="ja-JP" altLang="en-US" sz="2800" dirty="0">
                <a:solidFill>
                  <a:schemeClr val="bg1"/>
                </a:solidFill>
              </a:rPr>
              <a:t>年～</a:t>
            </a:r>
            <a:r>
              <a:rPr lang="en-US" altLang="ja-JP" sz="2800" dirty="0">
                <a:solidFill>
                  <a:schemeClr val="bg1"/>
                </a:solidFill>
              </a:rPr>
              <a:t>2025</a:t>
            </a:r>
            <a:r>
              <a:rPr lang="ja-JP" altLang="en-US" sz="2800" dirty="0">
                <a:solidFill>
                  <a:schemeClr val="bg1"/>
                </a:solidFill>
              </a:rPr>
              <a:t>年）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303443-F2BC-A5C2-E563-82D070EF0E79}"/>
              </a:ext>
            </a:extLst>
          </p:cNvPr>
          <p:cNvSpPr txBox="1"/>
          <p:nvPr/>
        </p:nvSpPr>
        <p:spPr>
          <a:xfrm>
            <a:off x="359532" y="859498"/>
            <a:ext cx="84249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800" b="1" dirty="0"/>
              <a:t>◆ ①</a:t>
            </a:r>
            <a:r>
              <a:rPr lang="en-US" altLang="ja-JP" sz="2800" b="1" dirty="0"/>
              <a:t>【2024</a:t>
            </a:r>
            <a:r>
              <a:rPr lang="ja-JP" altLang="en-US" sz="2800" b="1" dirty="0"/>
              <a:t>年</a:t>
            </a:r>
            <a:r>
              <a:rPr lang="en-US" altLang="ja-JP" sz="2800" b="1" dirty="0"/>
              <a:t>4</a:t>
            </a:r>
            <a:r>
              <a:rPr lang="ja-JP" altLang="en-US" sz="2800" b="1" dirty="0"/>
              <a:t>月</a:t>
            </a:r>
            <a:r>
              <a:rPr lang="en-US" altLang="ja-JP" sz="2800" b="1" dirty="0"/>
              <a:t>】</a:t>
            </a:r>
            <a:r>
              <a:rPr lang="ja-JP" altLang="en-US" sz="2800" b="1" dirty="0"/>
              <a:t>職業安定法改正（採用活動時の情報提供義務の明確化）</a:t>
            </a:r>
            <a:endParaRPr lang="en-US" altLang="ja-JP" sz="2800" b="1" dirty="0"/>
          </a:p>
          <a:p>
            <a:pPr>
              <a:buNone/>
            </a:pPr>
            <a:endParaRPr lang="ja-JP" altLang="en-US" sz="2800" b="1" dirty="0"/>
          </a:p>
          <a:p>
            <a:pPr>
              <a:buNone/>
            </a:pPr>
            <a:r>
              <a:rPr lang="ja-JP" altLang="en-US" sz="2800" dirty="0"/>
              <a:t>以下のような事項を</a:t>
            </a:r>
            <a:r>
              <a:rPr lang="ja-JP" altLang="en-US" sz="2800" b="1" dirty="0"/>
              <a:t>事前に明示しないと法違反のリスク</a:t>
            </a:r>
            <a:r>
              <a:rPr lang="ja-JP" altLang="en-US" sz="2800" dirty="0"/>
              <a:t>があります：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労働条件（給与、勤務地、職務内容、試用期間など）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雇用形態の明示（無期か有期か、更新有無など）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労働時間・休日制度の詳細（特に固定残業代の有無）</a:t>
            </a:r>
          </a:p>
          <a:p>
            <a:pPr>
              <a:buNone/>
            </a:pPr>
            <a:r>
              <a:rPr lang="ja-JP" altLang="en-US" sz="2800" b="1" dirty="0"/>
              <a:t>💡注意点：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面接時に異なる条件を提示したり、曖昧にする行為は</a:t>
            </a:r>
            <a:r>
              <a:rPr lang="en-US" altLang="ja-JP" sz="2800" dirty="0"/>
              <a:t>NG</a:t>
            </a:r>
            <a:r>
              <a:rPr lang="ja-JP" altLang="en-US" sz="2800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雇用契約書・内定通知書と矛盾がないように。</a:t>
            </a:r>
          </a:p>
        </p:txBody>
      </p:sp>
    </p:spTree>
    <p:extLst>
      <p:ext uri="{BB962C8B-B14F-4D97-AF65-F5344CB8AC3E}">
        <p14:creationId xmlns:p14="http://schemas.microsoft.com/office/powerpoint/2010/main" val="285050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F6BD-0277-372F-E57A-C95C1C5C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5CF33-6CB0-533D-1476-A605BCDF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6BD6D8-C10B-ACBD-6608-14502CA067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2800" dirty="0">
                <a:solidFill>
                  <a:schemeClr val="bg1"/>
                </a:solidFill>
              </a:rPr>
              <a:t>最新トピックス：法改正・通達等（</a:t>
            </a:r>
            <a:r>
              <a:rPr lang="en-US" altLang="ja-JP" sz="2800" dirty="0">
                <a:solidFill>
                  <a:schemeClr val="bg1"/>
                </a:solidFill>
              </a:rPr>
              <a:t>2023</a:t>
            </a:r>
            <a:r>
              <a:rPr lang="ja-JP" altLang="en-US" sz="2800" dirty="0">
                <a:solidFill>
                  <a:schemeClr val="bg1"/>
                </a:solidFill>
              </a:rPr>
              <a:t>年～</a:t>
            </a:r>
            <a:r>
              <a:rPr lang="en-US" altLang="ja-JP" sz="2800" dirty="0">
                <a:solidFill>
                  <a:schemeClr val="bg1"/>
                </a:solidFill>
              </a:rPr>
              <a:t>2025</a:t>
            </a:r>
            <a:r>
              <a:rPr lang="ja-JP" altLang="en-US" sz="2800" dirty="0">
                <a:solidFill>
                  <a:schemeClr val="bg1"/>
                </a:solidFill>
              </a:rPr>
              <a:t>年）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A3CFA2-25B3-D6B3-E818-9ADE9AFF64FB}"/>
              </a:ext>
            </a:extLst>
          </p:cNvPr>
          <p:cNvSpPr txBox="1"/>
          <p:nvPr/>
        </p:nvSpPr>
        <p:spPr>
          <a:xfrm>
            <a:off x="359532" y="1030057"/>
            <a:ext cx="84249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800" b="1" dirty="0"/>
              <a:t>◆ ②</a:t>
            </a:r>
            <a:r>
              <a:rPr lang="en-US" altLang="ja-JP" sz="2800" b="1" dirty="0"/>
              <a:t>【2023</a:t>
            </a:r>
            <a:r>
              <a:rPr lang="ja-JP" altLang="en-US" sz="2800" b="1" dirty="0"/>
              <a:t>年施行</a:t>
            </a:r>
            <a:r>
              <a:rPr lang="en-US" altLang="ja-JP" sz="2800" b="1" dirty="0"/>
              <a:t>】</a:t>
            </a:r>
            <a:r>
              <a:rPr lang="ja-JP" altLang="en-US" sz="2800" b="1" dirty="0"/>
              <a:t>女性活躍推進法・育児介護休業法 改正に伴う質問への注意</a:t>
            </a:r>
            <a:endParaRPr lang="en-US" altLang="ja-JP" sz="2800" b="1" dirty="0"/>
          </a:p>
          <a:p>
            <a:pPr>
              <a:buNone/>
            </a:pPr>
            <a:endParaRPr lang="en-US" altLang="ja-JP" sz="2800" b="1" dirty="0"/>
          </a:p>
          <a:p>
            <a:pPr>
              <a:buNone/>
            </a:pPr>
            <a:endParaRPr lang="ja-JP" alt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妊娠・出産予定の有無を問う行為は</a:t>
            </a:r>
            <a:r>
              <a:rPr lang="ja-JP" altLang="en-US" sz="2800" b="1" dirty="0"/>
              <a:t>性差別に該当</a:t>
            </a:r>
            <a:r>
              <a:rPr lang="ja-JP" altLang="en-US" sz="2800" dirty="0"/>
              <a:t>する可能性大。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男性応募者にも、育休取得希望などの意向を聞くのは慎重に。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多様な働き方（時短・リモートなど）に対する希望を聞く際は「希望を妨げない範囲」での配慮が必要。</a:t>
            </a:r>
          </a:p>
        </p:txBody>
      </p:sp>
    </p:spTree>
    <p:extLst>
      <p:ext uri="{BB962C8B-B14F-4D97-AF65-F5344CB8AC3E}">
        <p14:creationId xmlns:p14="http://schemas.microsoft.com/office/powerpoint/2010/main" val="269131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1285-4079-D0E8-4CC2-143EA4DF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66E3D-E030-3DC8-3C69-911B8251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4DCB8B-139E-3C62-410B-01F842C604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2800" dirty="0">
                <a:solidFill>
                  <a:schemeClr val="bg1"/>
                </a:solidFill>
              </a:rPr>
              <a:t>最新トピックス：法改正・通達等（</a:t>
            </a:r>
            <a:r>
              <a:rPr lang="en-US" altLang="ja-JP" sz="2800" dirty="0">
                <a:solidFill>
                  <a:schemeClr val="bg1"/>
                </a:solidFill>
              </a:rPr>
              <a:t>2023</a:t>
            </a:r>
            <a:r>
              <a:rPr lang="ja-JP" altLang="en-US" sz="2800" dirty="0">
                <a:solidFill>
                  <a:schemeClr val="bg1"/>
                </a:solidFill>
              </a:rPr>
              <a:t>年～</a:t>
            </a:r>
            <a:r>
              <a:rPr lang="en-US" altLang="ja-JP" sz="2800" dirty="0">
                <a:solidFill>
                  <a:schemeClr val="bg1"/>
                </a:solidFill>
              </a:rPr>
              <a:t>2025</a:t>
            </a:r>
            <a:r>
              <a:rPr lang="ja-JP" altLang="en-US" sz="2800" dirty="0">
                <a:solidFill>
                  <a:schemeClr val="bg1"/>
                </a:solidFill>
              </a:rPr>
              <a:t>年）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3E092C-BA71-1DDD-2DF2-3A6D338D119E}"/>
              </a:ext>
            </a:extLst>
          </p:cNvPr>
          <p:cNvSpPr txBox="1"/>
          <p:nvPr/>
        </p:nvSpPr>
        <p:spPr>
          <a:xfrm>
            <a:off x="359532" y="1017481"/>
            <a:ext cx="84249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800" b="1" dirty="0"/>
              <a:t>◆ ③</a:t>
            </a:r>
            <a:r>
              <a:rPr lang="en-US" altLang="ja-JP" sz="2800" b="1" dirty="0"/>
              <a:t>【2023</a:t>
            </a:r>
            <a:r>
              <a:rPr lang="ja-JP" altLang="en-US" sz="2800" b="1" dirty="0"/>
              <a:t>年～</a:t>
            </a:r>
            <a:r>
              <a:rPr lang="en-US" altLang="ja-JP" sz="2800" b="1" dirty="0"/>
              <a:t>】</a:t>
            </a:r>
            <a:r>
              <a:rPr lang="ja-JP" altLang="en-US" sz="2800" b="1" dirty="0"/>
              <a:t>障害者差別解消法の合理的配慮義務の強化</a:t>
            </a:r>
            <a:endParaRPr lang="en-US" altLang="ja-JP" sz="2800" b="1" dirty="0"/>
          </a:p>
          <a:p>
            <a:pPr>
              <a:buNone/>
            </a:pPr>
            <a:endParaRPr lang="en-US" altLang="ja-JP" sz="2800" b="1" dirty="0"/>
          </a:p>
          <a:p>
            <a:pPr>
              <a:buNone/>
            </a:pPr>
            <a:endParaRPr lang="ja-JP" alt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面接時に障害に関する質問をする場合、「業務に必要な配慮を検討するため」であることが明確でなければならない。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800" dirty="0"/>
              <a:t>「病歴・障害名」そのものを聞くのは基本</a:t>
            </a:r>
            <a:r>
              <a:rPr lang="en-US" altLang="ja-JP" sz="2800" dirty="0"/>
              <a:t>NG</a:t>
            </a:r>
            <a:r>
              <a:rPr lang="ja-JP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7725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623D-E5EA-F836-8E2C-890F62F5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EF1229-2835-6D2F-F139-70947354E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99296B-3FBB-3694-65B4-DA740AA03C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kumimoji="1" lang="ja-JP" altLang="en-US" sz="2800" dirty="0">
                <a:solidFill>
                  <a:schemeClr val="bg1"/>
                </a:solidFill>
              </a:rPr>
              <a:t>採用面接でよくあるグレーゾーン例と対応策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C4A838A-8010-314F-F1F8-E331C7826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21425"/>
              </p:ext>
            </p:extLst>
          </p:nvPr>
        </p:nvGraphicFramePr>
        <p:xfrm>
          <a:off x="467544" y="1664804"/>
          <a:ext cx="8208912" cy="3528392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3276706257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69917411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840924527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r>
                        <a:rPr lang="ja-JP" altLang="en-US"/>
                        <a:t>質問内容例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リスク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代替質問の例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971403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r>
                        <a:rPr lang="ja-JP" altLang="en-US"/>
                        <a:t>「結婚予定はありますか？」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性差別・プライバシー侵害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職務に支障がある曜日・時間帯の制約はありますか？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520748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r>
                        <a:rPr lang="ja-JP" altLang="en-US"/>
                        <a:t>「親御さんは何をされてますか？」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本籍や家庭環境に関する不当な選考材料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特になし（業務と無関係なら聞かない）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87584"/>
                  </a:ext>
                </a:extLst>
              </a:tr>
              <a:tr h="1260140">
                <a:tc>
                  <a:txBody>
                    <a:bodyPr/>
                    <a:lstStyle/>
                    <a:p>
                      <a:r>
                        <a:rPr lang="ja-JP" altLang="en-US"/>
                        <a:t>「実家はどこですか？」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出自や本籍に関する差別懸念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現住所または勤務地までの通勤時間をお聞かせください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62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9190-3A17-2A78-A76E-25824184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76717-6628-ECCF-F758-D8B9441F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617A6F-0034-A6F7-5EDD-27B5F6F3C5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2800" dirty="0">
                <a:solidFill>
                  <a:schemeClr val="bg1"/>
                </a:solidFill>
              </a:rPr>
              <a:t>テストをやってみましょう！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CD46A6-D198-902E-D391-C6C3CF4DC81E}"/>
              </a:ext>
            </a:extLst>
          </p:cNvPr>
          <p:cNvSpPr txBox="1"/>
          <p:nvPr/>
        </p:nvSpPr>
        <p:spPr>
          <a:xfrm>
            <a:off x="542865" y="2348135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①現住所と勤務地までの通勤時間は？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14D4793-C8DA-3288-F220-3A91C5BE6348}"/>
              </a:ext>
            </a:extLst>
          </p:cNvPr>
          <p:cNvSpPr txBox="1"/>
          <p:nvPr/>
        </p:nvSpPr>
        <p:spPr>
          <a:xfrm>
            <a:off x="5804520" y="2393355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3C8F56E-E039-298F-E8E4-8F1EBC2E3C4C}"/>
              </a:ext>
            </a:extLst>
          </p:cNvPr>
          <p:cNvSpPr txBox="1"/>
          <p:nvPr/>
        </p:nvSpPr>
        <p:spPr>
          <a:xfrm>
            <a:off x="251520" y="1043204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■正答数を報告してください。（別途指示に従ってください。</a:t>
            </a:r>
            <a:r>
              <a:rPr lang="en-US" altLang="ja-JP" dirty="0"/>
              <a:t>)</a:t>
            </a:r>
            <a:r>
              <a:rPr lang="ja-JP" altLang="en-US" dirty="0"/>
              <a:t>正解〇</a:t>
            </a:r>
            <a:r>
              <a:rPr lang="en-US" altLang="ja-JP" dirty="0"/>
              <a:t>/14</a:t>
            </a:r>
            <a:r>
              <a:rPr lang="ja-JP" altLang="en-US" dirty="0"/>
              <a:t>問中</a:t>
            </a:r>
            <a:endParaRPr lang="en-US" altLang="ja-JP" dirty="0"/>
          </a:p>
          <a:p>
            <a:r>
              <a:rPr lang="ja-JP" altLang="en-US" dirty="0"/>
              <a:t>　　　　　　　　　　　　　〇：聞いてい良い</a:t>
            </a:r>
            <a:r>
              <a:rPr lang="en-US" altLang="ja-JP" dirty="0"/>
              <a:t> </a:t>
            </a:r>
            <a:r>
              <a:rPr lang="ja-JP" altLang="en-US" dirty="0"/>
              <a:t>△：内容による　</a:t>
            </a:r>
            <a:r>
              <a:rPr lang="en-US" altLang="ja-JP" dirty="0"/>
              <a:t> </a:t>
            </a:r>
            <a:r>
              <a:rPr lang="ja-JP" altLang="en-US" dirty="0"/>
              <a:t>☓：聞いてはいけない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285CA8E-E237-6436-1CE1-A7B43FACE832}"/>
              </a:ext>
            </a:extLst>
          </p:cNvPr>
          <p:cNvSpPr txBox="1"/>
          <p:nvPr/>
        </p:nvSpPr>
        <p:spPr>
          <a:xfrm>
            <a:off x="546246" y="2858490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②本籍地・出生地はどこですか？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52BAE18-70A0-AAAA-335C-6A25633DC981}"/>
              </a:ext>
            </a:extLst>
          </p:cNvPr>
          <p:cNvSpPr txBox="1"/>
          <p:nvPr/>
        </p:nvSpPr>
        <p:spPr>
          <a:xfrm>
            <a:off x="546246" y="3367155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③ご両親の職業は？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68E3BC0-D173-3482-CA0A-0F5E37728635}"/>
              </a:ext>
            </a:extLst>
          </p:cNvPr>
          <p:cNvSpPr txBox="1"/>
          <p:nvPr/>
        </p:nvSpPr>
        <p:spPr>
          <a:xfrm>
            <a:off x="542865" y="3848978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④今後、結婚の予定はありますか？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F8838E1-B2BD-1010-9E4C-2729CF4BC479}"/>
              </a:ext>
            </a:extLst>
          </p:cNvPr>
          <p:cNvSpPr txBox="1"/>
          <p:nvPr/>
        </p:nvSpPr>
        <p:spPr>
          <a:xfrm>
            <a:off x="542865" y="4357643"/>
            <a:ext cx="5080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⑤子どもはいますか？将来的に欲しいですか？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7459E76-AE31-02C1-B91E-07F19600C18F}"/>
              </a:ext>
            </a:extLst>
          </p:cNvPr>
          <p:cNvSpPr txBox="1"/>
          <p:nvPr/>
        </p:nvSpPr>
        <p:spPr>
          <a:xfrm>
            <a:off x="555441" y="4852786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⑥転勤は可能ですか？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FEBEFD4-D5B5-DFD0-E7E6-B47D6BFCFBDF}"/>
              </a:ext>
            </a:extLst>
          </p:cNvPr>
          <p:cNvSpPr txBox="1"/>
          <p:nvPr/>
        </p:nvSpPr>
        <p:spPr>
          <a:xfrm>
            <a:off x="555441" y="5347929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⑦病歴や持病はありますか？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B39E177-482C-408D-0CC5-BC8041DEE3EF}"/>
              </a:ext>
            </a:extLst>
          </p:cNvPr>
          <p:cNvSpPr txBox="1"/>
          <p:nvPr/>
        </p:nvSpPr>
        <p:spPr>
          <a:xfrm>
            <a:off x="5804520" y="2903176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E7E5EBE-2EE1-5CE8-1855-1210D670C585}"/>
              </a:ext>
            </a:extLst>
          </p:cNvPr>
          <p:cNvSpPr txBox="1"/>
          <p:nvPr/>
        </p:nvSpPr>
        <p:spPr>
          <a:xfrm>
            <a:off x="5804520" y="3367155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2DB7EE0-338A-8F74-01D7-2AA6DA403F29}"/>
              </a:ext>
            </a:extLst>
          </p:cNvPr>
          <p:cNvSpPr txBox="1"/>
          <p:nvPr/>
        </p:nvSpPr>
        <p:spPr>
          <a:xfrm>
            <a:off x="5804520" y="3794804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F7EDCEA-3D60-8054-5B17-CB9D027E581C}"/>
              </a:ext>
            </a:extLst>
          </p:cNvPr>
          <p:cNvSpPr txBox="1"/>
          <p:nvPr/>
        </p:nvSpPr>
        <p:spPr>
          <a:xfrm>
            <a:off x="5804520" y="4357643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1EE6428-0FBD-B93D-7621-8C3CF03D48A8}"/>
              </a:ext>
            </a:extLst>
          </p:cNvPr>
          <p:cNvSpPr txBox="1"/>
          <p:nvPr/>
        </p:nvSpPr>
        <p:spPr>
          <a:xfrm>
            <a:off x="5804520" y="4933730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8A7D57E-2A9D-C0A2-DAA9-F6D21B0E2162}"/>
              </a:ext>
            </a:extLst>
          </p:cNvPr>
          <p:cNvSpPr txBox="1"/>
          <p:nvPr/>
        </p:nvSpPr>
        <p:spPr>
          <a:xfrm>
            <a:off x="5804520" y="5445464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</p:spTree>
    <p:extLst>
      <p:ext uri="{BB962C8B-B14F-4D97-AF65-F5344CB8AC3E}">
        <p14:creationId xmlns:p14="http://schemas.microsoft.com/office/powerpoint/2010/main" val="155521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C98E0-9181-1529-B97D-22C06391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36BAF2-61B0-80D7-CD79-7C9190AC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699126-DDD0-45E5-8F19-987CA1E004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lang="ja-JP" altLang="en-US" sz="2800" dirty="0">
                <a:solidFill>
                  <a:schemeClr val="bg1"/>
                </a:solidFill>
              </a:rPr>
              <a:t>テストをやってみましょう！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85AE67A-5F21-47A0-CD44-9D48CF716B89}"/>
              </a:ext>
            </a:extLst>
          </p:cNvPr>
          <p:cNvSpPr txBox="1"/>
          <p:nvPr/>
        </p:nvSpPr>
        <p:spPr>
          <a:xfrm>
            <a:off x="5804520" y="2393355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705D238-B980-4C0F-525B-C4199000705B}"/>
              </a:ext>
            </a:extLst>
          </p:cNvPr>
          <p:cNvSpPr txBox="1"/>
          <p:nvPr/>
        </p:nvSpPr>
        <p:spPr>
          <a:xfrm>
            <a:off x="467544" y="127793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ja-JP" dirty="0"/>
          </a:p>
          <a:p>
            <a:r>
              <a:rPr lang="ja-JP" altLang="en-US" dirty="0"/>
              <a:t>　　　　　　　　　　　　　〇：聞いてい良い</a:t>
            </a:r>
            <a:r>
              <a:rPr lang="en-US" altLang="ja-JP" dirty="0"/>
              <a:t> </a:t>
            </a:r>
            <a:r>
              <a:rPr lang="ja-JP" altLang="en-US" dirty="0"/>
              <a:t>△：内容による　</a:t>
            </a:r>
            <a:r>
              <a:rPr lang="en-US" altLang="ja-JP" dirty="0"/>
              <a:t> </a:t>
            </a:r>
            <a:r>
              <a:rPr lang="ja-JP" altLang="en-US" dirty="0"/>
              <a:t>☓：聞いてはいけない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77D2C40-3B11-5D53-9E1C-86C15BE88313}"/>
              </a:ext>
            </a:extLst>
          </p:cNvPr>
          <p:cNvSpPr txBox="1"/>
          <p:nvPr/>
        </p:nvSpPr>
        <p:spPr>
          <a:xfrm>
            <a:off x="5804520" y="2925339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93E1120-D2E1-1DC5-A3BA-5C439E784DFE}"/>
              </a:ext>
            </a:extLst>
          </p:cNvPr>
          <p:cNvSpPr txBox="1"/>
          <p:nvPr/>
        </p:nvSpPr>
        <p:spPr>
          <a:xfrm>
            <a:off x="5804520" y="3429000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1DC66DB-47A5-BF9F-6849-5A8396182BF2}"/>
              </a:ext>
            </a:extLst>
          </p:cNvPr>
          <p:cNvSpPr txBox="1"/>
          <p:nvPr/>
        </p:nvSpPr>
        <p:spPr>
          <a:xfrm>
            <a:off x="5804520" y="4019842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50C031F-AE93-9C91-727D-8E71E621F293}"/>
              </a:ext>
            </a:extLst>
          </p:cNvPr>
          <p:cNvSpPr txBox="1"/>
          <p:nvPr/>
        </p:nvSpPr>
        <p:spPr>
          <a:xfrm>
            <a:off x="5804520" y="4564398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B7210BE-D1AF-11FA-1559-28858F2B8C14}"/>
              </a:ext>
            </a:extLst>
          </p:cNvPr>
          <p:cNvSpPr txBox="1"/>
          <p:nvPr/>
        </p:nvSpPr>
        <p:spPr>
          <a:xfrm>
            <a:off x="5804520" y="5076132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5CFB597-A5FF-E41F-87A3-80AA404A8138}"/>
              </a:ext>
            </a:extLst>
          </p:cNvPr>
          <p:cNvSpPr txBox="1"/>
          <p:nvPr/>
        </p:nvSpPr>
        <p:spPr>
          <a:xfrm>
            <a:off x="5804520" y="5608624"/>
            <a:ext cx="261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〇　</a:t>
            </a:r>
            <a:r>
              <a:rPr lang="en-US" altLang="ja-JP" dirty="0"/>
              <a:t>or  </a:t>
            </a:r>
            <a:r>
              <a:rPr lang="ja-JP" altLang="en-US" dirty="0"/>
              <a:t>△　</a:t>
            </a:r>
            <a:r>
              <a:rPr lang="en-US" altLang="ja-JP" dirty="0"/>
              <a:t>or  </a:t>
            </a:r>
            <a:r>
              <a:rPr lang="ja-JP" altLang="en-US" dirty="0"/>
              <a:t>☓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41B491-1E2B-6747-66A6-BFB435DB66A4}"/>
              </a:ext>
            </a:extLst>
          </p:cNvPr>
          <p:cNvSpPr txBox="1"/>
          <p:nvPr/>
        </p:nvSpPr>
        <p:spPr>
          <a:xfrm>
            <a:off x="768489" y="2393355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⑧業務上、特別な配慮が必要ですか？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432521-1336-0A8C-C33F-21B6291D3638}"/>
              </a:ext>
            </a:extLst>
          </p:cNvPr>
          <p:cNvSpPr txBox="1"/>
          <p:nvPr/>
        </p:nvSpPr>
        <p:spPr>
          <a:xfrm>
            <a:off x="789382" y="2925339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⑨休日はどのように過ごしていますか？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5111AE-F63E-40A9-5B95-E53AA5DCA49A}"/>
              </a:ext>
            </a:extLst>
          </p:cNvPr>
          <p:cNvSpPr txBox="1"/>
          <p:nvPr/>
        </p:nvSpPr>
        <p:spPr>
          <a:xfrm>
            <a:off x="789382" y="3429000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⑩宗教は信仰していますか？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683519-0D5C-BBC7-3F40-AE325998C1D6}"/>
              </a:ext>
            </a:extLst>
          </p:cNvPr>
          <p:cNvSpPr txBox="1"/>
          <p:nvPr/>
        </p:nvSpPr>
        <p:spPr>
          <a:xfrm>
            <a:off x="789382" y="4005524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⑪性別・年齢を教えてください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97BF90-AB96-321D-F3D7-15AB063A3659}"/>
              </a:ext>
            </a:extLst>
          </p:cNvPr>
          <p:cNvSpPr txBox="1"/>
          <p:nvPr/>
        </p:nvSpPr>
        <p:spPr>
          <a:xfrm>
            <a:off x="791072" y="4553418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⑫希望の勤務日数・曜日・時間帯は？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18CAB5-B05B-34E1-125A-4FB0816A5354}"/>
              </a:ext>
            </a:extLst>
          </p:cNvPr>
          <p:cNvSpPr txBox="1"/>
          <p:nvPr/>
        </p:nvSpPr>
        <p:spPr>
          <a:xfrm>
            <a:off x="817171" y="5100510"/>
            <a:ext cx="4708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⑬住宅の持ち家／賃貸は？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FCDDFDA-5871-AA08-1F69-3F8B9F1C448E}"/>
              </a:ext>
            </a:extLst>
          </p:cNvPr>
          <p:cNvSpPr txBox="1"/>
          <p:nvPr/>
        </p:nvSpPr>
        <p:spPr>
          <a:xfrm>
            <a:off x="853141" y="5604171"/>
            <a:ext cx="4708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⑭雇用形態の希望はありますか？（正社員／パートなど）</a:t>
            </a:r>
          </a:p>
        </p:txBody>
      </p:sp>
    </p:spTree>
    <p:extLst>
      <p:ext uri="{BB962C8B-B14F-4D97-AF65-F5344CB8AC3E}">
        <p14:creationId xmlns:p14="http://schemas.microsoft.com/office/powerpoint/2010/main" val="240297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EAD0-2924-2D16-3B2B-85D391C5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45712-50CD-B450-D694-5ECF2EDD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BF865E-DA0E-260F-5FB7-0DE76DCD1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kumimoji="1" lang="ja-JP" altLang="en-US" sz="2800" dirty="0">
                <a:solidFill>
                  <a:schemeClr val="bg1"/>
                </a:solidFill>
              </a:rPr>
              <a:t>正解と解説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DFAB34-3A5C-A1C9-5567-A9552976A2E9}"/>
              </a:ext>
            </a:extLst>
          </p:cNvPr>
          <p:cNvSpPr txBox="1"/>
          <p:nvPr/>
        </p:nvSpPr>
        <p:spPr>
          <a:xfrm>
            <a:off x="542865" y="1073878"/>
            <a:ext cx="8281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①現住所と勤務地までの通勤時間は？　正解　〇</a:t>
            </a:r>
            <a:endParaRPr lang="en-US" altLang="ja-JP" dirty="0"/>
          </a:p>
          <a:p>
            <a:r>
              <a:rPr lang="ja-JP" altLang="en-US" dirty="0"/>
              <a:t>通勤可否の確認は合理的。居住地自体の深掘りや出自への連想質問は避ける。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521884E-7B8C-6979-0281-5944D5E24BDC}"/>
              </a:ext>
            </a:extLst>
          </p:cNvPr>
          <p:cNvSpPr txBox="1"/>
          <p:nvPr/>
        </p:nvSpPr>
        <p:spPr>
          <a:xfrm>
            <a:off x="555440" y="1772708"/>
            <a:ext cx="82692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②本籍地・出生地はどこですか？　正解　☓</a:t>
            </a:r>
            <a:endParaRPr lang="en-US" altLang="ja-JP" dirty="0"/>
          </a:p>
          <a:p>
            <a:r>
              <a:rPr lang="ja-JP" altLang="en-US" dirty="0"/>
              <a:t>公正な採用選考の基本指針（厚労省）により、出身地差別につながるため禁止。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263D097-D2A3-A395-37C2-51699E3A1076}"/>
              </a:ext>
            </a:extLst>
          </p:cNvPr>
          <p:cNvSpPr txBox="1"/>
          <p:nvPr/>
        </p:nvSpPr>
        <p:spPr>
          <a:xfrm>
            <a:off x="555440" y="2379874"/>
            <a:ext cx="8597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③ご両親の職業は？　正解　☓</a:t>
            </a:r>
            <a:endParaRPr lang="en-US" altLang="ja-JP" dirty="0"/>
          </a:p>
          <a:p>
            <a:r>
              <a:rPr lang="ja-JP" altLang="en-US" dirty="0"/>
              <a:t>家族情報の収集はプライバシー侵害。選考基準として不適切（厚労省）。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E99817C-B425-2178-D20D-24A9168575D6}"/>
              </a:ext>
            </a:extLst>
          </p:cNvPr>
          <p:cNvSpPr txBox="1"/>
          <p:nvPr/>
        </p:nvSpPr>
        <p:spPr>
          <a:xfrm>
            <a:off x="542865" y="3027895"/>
            <a:ext cx="8421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④今後、結婚の予定はありますか？　正解　☓</a:t>
            </a:r>
            <a:endParaRPr lang="en-US" altLang="ja-JP" dirty="0"/>
          </a:p>
          <a:p>
            <a:r>
              <a:rPr lang="ja-JP" altLang="en-US" b="1" dirty="0"/>
              <a:t>男女雇用機会均等法・育介法の趣旨に反する</a:t>
            </a:r>
            <a:r>
              <a:rPr lang="ja-JP" altLang="en-US" dirty="0"/>
              <a:t>。性別や将来のライフスタイルによる選考は差別。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C9C7F82-8148-8E88-2F25-A020A3B00974}"/>
              </a:ext>
            </a:extLst>
          </p:cNvPr>
          <p:cNvSpPr txBox="1"/>
          <p:nvPr/>
        </p:nvSpPr>
        <p:spPr>
          <a:xfrm>
            <a:off x="555440" y="3913872"/>
            <a:ext cx="7112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⑤子どもはいますか？将来的に欲しいですか？　正解　☓</a:t>
            </a:r>
            <a:endParaRPr lang="en-US" altLang="ja-JP" dirty="0"/>
          </a:p>
          <a:p>
            <a:r>
              <a:rPr lang="ja-JP" altLang="en-US" dirty="0"/>
              <a:t>同上。妊娠・出産に関する質問は特に</a:t>
            </a:r>
            <a:r>
              <a:rPr lang="en-US" altLang="ja-JP" dirty="0"/>
              <a:t>NG</a:t>
            </a:r>
            <a:r>
              <a:rPr lang="ja-JP" altLang="en-US" dirty="0"/>
              <a:t>。職務関連性もなし。</a:t>
            </a:r>
            <a:endParaRPr lang="en-US" altLang="ja-JP" dirty="0"/>
          </a:p>
          <a:p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D85A207-ED43-B20E-7B8B-7747D72CD202}"/>
              </a:ext>
            </a:extLst>
          </p:cNvPr>
          <p:cNvSpPr txBox="1"/>
          <p:nvPr/>
        </p:nvSpPr>
        <p:spPr>
          <a:xfrm>
            <a:off x="555440" y="4559224"/>
            <a:ext cx="8841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⑥転勤は可能ですか？　正解　〇</a:t>
            </a:r>
            <a:endParaRPr lang="en-US" altLang="ja-JP" dirty="0"/>
          </a:p>
          <a:p>
            <a:r>
              <a:rPr lang="ja-JP" altLang="en-US" dirty="0"/>
              <a:t>職務要件に関連する合理的な質問。ただし、「家庭状況」への誘導にならないよう注意。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1354E83-7FA5-813E-7172-33FF90F20A12}"/>
              </a:ext>
            </a:extLst>
          </p:cNvPr>
          <p:cNvSpPr txBox="1"/>
          <p:nvPr/>
        </p:nvSpPr>
        <p:spPr>
          <a:xfrm>
            <a:off x="555440" y="5258911"/>
            <a:ext cx="8304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⑦病歴や持病はありますか？　正解　☓</a:t>
            </a:r>
            <a:endParaRPr lang="en-US" altLang="ja-JP" dirty="0"/>
          </a:p>
          <a:p>
            <a:r>
              <a:rPr lang="ja-JP" altLang="en-US" dirty="0"/>
              <a:t>健康状態の確認が必要な場合でも、「業務遂行上必要な配慮」に限定して質問。</a:t>
            </a:r>
            <a:r>
              <a:rPr lang="en-US" altLang="ja-JP" dirty="0"/>
              <a:t>2024</a:t>
            </a:r>
            <a:r>
              <a:rPr lang="ja-JP" altLang="en-US" dirty="0"/>
              <a:t>年の</a:t>
            </a:r>
            <a:r>
              <a:rPr lang="ja-JP" altLang="en-US" b="1" dirty="0"/>
              <a:t>障害者差別解消法改正</a:t>
            </a:r>
            <a:r>
              <a:rPr lang="ja-JP" altLang="en-US" dirty="0"/>
              <a:t>で合理的配慮義務が強化。</a:t>
            </a:r>
          </a:p>
        </p:txBody>
      </p:sp>
    </p:spTree>
    <p:extLst>
      <p:ext uri="{BB962C8B-B14F-4D97-AF65-F5344CB8AC3E}">
        <p14:creationId xmlns:p14="http://schemas.microsoft.com/office/powerpoint/2010/main" val="1247954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545F-2352-EC56-E44B-9E6617BF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81567-3AB1-CB7A-936A-EC92E663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B8BFF4-B0E4-BB7A-032E-04FE50392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176442"/>
            <a:ext cx="9144000" cy="483830"/>
          </a:xfrm>
        </p:spPr>
        <p:txBody>
          <a:bodyPr/>
          <a:lstStyle/>
          <a:p>
            <a:r>
              <a:rPr kumimoji="1" lang="ja-JP" altLang="en-US" sz="2800" dirty="0">
                <a:solidFill>
                  <a:schemeClr val="bg1"/>
                </a:solidFill>
              </a:rPr>
              <a:t>正解と解説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5B2C99-D9FA-21E3-2174-B89A2EEFD0BF}"/>
              </a:ext>
            </a:extLst>
          </p:cNvPr>
          <p:cNvSpPr txBox="1"/>
          <p:nvPr/>
        </p:nvSpPr>
        <p:spPr>
          <a:xfrm>
            <a:off x="646785" y="963604"/>
            <a:ext cx="82094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⑧業務上、特別な配慮が必要ですか？　正解　〇</a:t>
            </a:r>
            <a:endParaRPr lang="en-US" altLang="ja-JP" dirty="0"/>
          </a:p>
          <a:p>
            <a:r>
              <a:rPr lang="ja-JP" altLang="en-US" dirty="0"/>
              <a:t>障害者雇用や健康状態に関する配慮として適切。本人の同意を得たうえでの確認に限る。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522313-E65D-D977-D0DF-81BF5AB08FBE}"/>
              </a:ext>
            </a:extLst>
          </p:cNvPr>
          <p:cNvSpPr txBox="1"/>
          <p:nvPr/>
        </p:nvSpPr>
        <p:spPr>
          <a:xfrm>
            <a:off x="646785" y="1901268"/>
            <a:ext cx="8209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⑨休日はどのように過ごしていますか？　正解　△</a:t>
            </a:r>
            <a:endParaRPr lang="en-US" altLang="ja-JP" dirty="0"/>
          </a:p>
          <a:p>
            <a:r>
              <a:rPr lang="ja-JP" altLang="en-US" dirty="0"/>
              <a:t>雑談目的でも、宗教・思想・家庭環境につながる場合は</a:t>
            </a:r>
            <a:r>
              <a:rPr lang="en-US" altLang="ja-JP" dirty="0"/>
              <a:t>NG</a:t>
            </a:r>
            <a:r>
              <a:rPr lang="ja-JP" altLang="en-US" dirty="0"/>
              <a:t>。趣味程度に留める。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537765-FE0C-2816-652D-A71C9911F666}"/>
              </a:ext>
            </a:extLst>
          </p:cNvPr>
          <p:cNvSpPr txBox="1"/>
          <p:nvPr/>
        </p:nvSpPr>
        <p:spPr>
          <a:xfrm>
            <a:off x="653209" y="2581012"/>
            <a:ext cx="8354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⑩宗教は信仰していますか？　正解　☓</a:t>
            </a:r>
            <a:endParaRPr lang="en-US" altLang="ja-JP" dirty="0"/>
          </a:p>
          <a:p>
            <a:r>
              <a:rPr lang="ja-JP" altLang="en-US" dirty="0"/>
              <a:t>信教の自由に抵触。</a:t>
            </a:r>
            <a:r>
              <a:rPr lang="ja-JP" altLang="en-US" b="1" dirty="0"/>
              <a:t>労働法・憲法の基本的人権保護に基づき</a:t>
            </a:r>
            <a:r>
              <a:rPr lang="en-US" altLang="ja-JP" b="1" dirty="0"/>
              <a:t>NG</a:t>
            </a:r>
            <a:r>
              <a:rPr lang="ja-JP" altLang="en-US" dirty="0"/>
              <a:t>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6F7132D-858A-08D1-A192-FF5697A13DAF}"/>
              </a:ext>
            </a:extLst>
          </p:cNvPr>
          <p:cNvSpPr txBox="1"/>
          <p:nvPr/>
        </p:nvSpPr>
        <p:spPr>
          <a:xfrm>
            <a:off x="677212" y="3204693"/>
            <a:ext cx="8354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⑪性別・年齢を教えてください　正解　☓</a:t>
            </a:r>
            <a:endParaRPr lang="en-US" altLang="ja-JP" dirty="0"/>
          </a:p>
          <a:p>
            <a:r>
              <a:rPr lang="ja-JP" altLang="en-US" dirty="0"/>
              <a:t>応募書類に記載がある場合も、</a:t>
            </a:r>
            <a:r>
              <a:rPr lang="ja-JP" altLang="en-US" b="1" dirty="0"/>
              <a:t>選考理由にしてはならない</a:t>
            </a:r>
            <a:r>
              <a:rPr lang="ja-JP" altLang="en-US" dirty="0"/>
              <a:t>（男女雇用機会均等法）。年齢による制限は「例外業務」以外では基本</a:t>
            </a:r>
            <a:r>
              <a:rPr lang="en-US" altLang="ja-JP" dirty="0"/>
              <a:t>NG</a:t>
            </a:r>
            <a:r>
              <a:rPr lang="ja-JP" altLang="en-US" dirty="0"/>
              <a:t>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0E520F3-C700-25EF-7641-64132EC7A3DA}"/>
              </a:ext>
            </a:extLst>
          </p:cNvPr>
          <p:cNvSpPr txBox="1"/>
          <p:nvPr/>
        </p:nvSpPr>
        <p:spPr>
          <a:xfrm>
            <a:off x="684717" y="4110016"/>
            <a:ext cx="8352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⑫希望の勤務日数・曜日・時間帯は？　正解〇</a:t>
            </a:r>
            <a:endParaRPr lang="en-US" altLang="ja-JP" dirty="0"/>
          </a:p>
          <a:p>
            <a:r>
              <a:rPr lang="ja-JP" altLang="en-US" dirty="0"/>
              <a:t>雇用形態や就労条件に関係するため適切。</a:t>
            </a:r>
            <a:r>
              <a:rPr lang="en-US" altLang="ja-JP" dirty="0"/>
              <a:t>2024</a:t>
            </a:r>
            <a:r>
              <a:rPr lang="ja-JP" altLang="en-US" dirty="0"/>
              <a:t>年の職業安定法改正（労働条件明示義務の強化）にも合致。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7062B9-D4E6-929B-D7B1-0CBA6B1B844F}"/>
              </a:ext>
            </a:extLst>
          </p:cNvPr>
          <p:cNvSpPr txBox="1"/>
          <p:nvPr/>
        </p:nvSpPr>
        <p:spPr>
          <a:xfrm>
            <a:off x="677212" y="4957840"/>
            <a:ext cx="6203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⑬住宅の持ち家／賃貸は？　正解　☓</a:t>
            </a:r>
            <a:endParaRPr lang="en-US" altLang="ja-JP" dirty="0"/>
          </a:p>
          <a:p>
            <a:r>
              <a:rPr lang="ja-JP" altLang="en-US" dirty="0"/>
              <a:t>生活状況の把握としては過剰。選考と無関係。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A0CB9FB-477D-99B3-7D2E-2890CDD92323}"/>
              </a:ext>
            </a:extLst>
          </p:cNvPr>
          <p:cNvSpPr txBox="1"/>
          <p:nvPr/>
        </p:nvSpPr>
        <p:spPr>
          <a:xfrm>
            <a:off x="677212" y="5623971"/>
            <a:ext cx="8154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⑭雇用形態の希望はありますか？（正社員／パートなど）　正解　〇</a:t>
            </a:r>
            <a:endParaRPr lang="en-US" altLang="ja-JP" dirty="0"/>
          </a:p>
          <a:p>
            <a:r>
              <a:rPr lang="ja-JP" altLang="en-US" dirty="0"/>
              <a:t>職種・条件とのマッチングに有用。</a:t>
            </a:r>
            <a:r>
              <a:rPr lang="en-US" altLang="ja-JP" dirty="0"/>
              <a:t>2024</a:t>
            </a:r>
            <a:r>
              <a:rPr lang="ja-JP" altLang="en-US" dirty="0"/>
              <a:t>年法改正での条件明示義務にも関連。</a:t>
            </a:r>
          </a:p>
        </p:txBody>
      </p:sp>
    </p:spTree>
    <p:extLst>
      <p:ext uri="{BB962C8B-B14F-4D97-AF65-F5344CB8AC3E}">
        <p14:creationId xmlns:p14="http://schemas.microsoft.com/office/powerpoint/2010/main" val="804921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591A5C-BFE9-DA89-2053-134EE2B5105C}"/>
              </a:ext>
            </a:extLst>
          </p:cNvPr>
          <p:cNvSpPr txBox="1"/>
          <p:nvPr/>
        </p:nvSpPr>
        <p:spPr>
          <a:xfrm>
            <a:off x="1187624" y="1228397"/>
            <a:ext cx="70567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400" b="1" dirty="0"/>
              <a:t>🎯 </a:t>
            </a:r>
            <a:r>
              <a:rPr lang="ja-JP" altLang="en-US" sz="2800" b="1" dirty="0"/>
              <a:t>面接官向けチェックポイント（簡易版）</a:t>
            </a:r>
            <a:endParaRPr lang="en-US" altLang="ja-JP" sz="2800" b="1" dirty="0"/>
          </a:p>
          <a:p>
            <a:pPr>
              <a:buNone/>
            </a:pPr>
            <a:endParaRPr lang="ja-JP" altLang="en-US" sz="2800" b="1" dirty="0"/>
          </a:p>
          <a:p>
            <a:r>
              <a:rPr lang="ja-JP" altLang="en-US" sz="2800" dirty="0"/>
              <a:t>□質問は「業務遂行に必要な範囲」か？</a:t>
            </a:r>
            <a:endParaRPr lang="en-US" altLang="ja-JP" sz="2800" dirty="0"/>
          </a:p>
          <a:p>
            <a:endParaRPr lang="ja-JP" altLang="en-US" sz="2800" dirty="0"/>
          </a:p>
          <a:p>
            <a:r>
              <a:rPr lang="ja-JP" altLang="en-US" sz="2800" dirty="0"/>
              <a:t>□プライバシーに踏み込みすぎていないか？</a:t>
            </a:r>
            <a:endParaRPr lang="en-US" altLang="ja-JP" sz="2800" dirty="0"/>
          </a:p>
          <a:p>
            <a:endParaRPr lang="ja-JP" altLang="en-US" sz="2800" dirty="0"/>
          </a:p>
          <a:p>
            <a:r>
              <a:rPr lang="ja-JP" altLang="en-US" sz="2800" dirty="0"/>
              <a:t>□相手の回答によって選考上の不利益を与えていないか？</a:t>
            </a:r>
            <a:endParaRPr lang="en-US" altLang="ja-JP" sz="2800" dirty="0"/>
          </a:p>
          <a:p>
            <a:endParaRPr lang="ja-JP" altLang="en-US" sz="2800" dirty="0"/>
          </a:p>
          <a:p>
            <a:r>
              <a:rPr lang="ja-JP" altLang="en-US" sz="2800" dirty="0"/>
              <a:t>□条件明示・雇用形態の説明は明確か？</a:t>
            </a:r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88B08D4B-D5B3-EAF6-0693-5F9CB694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16" y="0"/>
            <a:ext cx="9144000" cy="836613"/>
          </a:xfrm>
        </p:spPr>
        <p:txBody>
          <a:bodyPr/>
          <a:lstStyle/>
          <a:p>
            <a:r>
              <a:rPr lang="ja-JP" altLang="en-US" sz="2800" dirty="0">
                <a:solidFill>
                  <a:schemeClr val="bg1"/>
                </a:solidFill>
              </a:rPr>
              <a:t>最後に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53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iryo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28746</TotalTime>
  <Words>1454</Words>
  <Application>Microsoft Office PowerPoint</Application>
  <PresentationFormat>画面に合わせる (4:3)</PresentationFormat>
  <Paragraphs>127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Meiryo UI</vt:lpstr>
      <vt:lpstr>メイリオ</vt:lpstr>
      <vt:lpstr>游ゴシック</vt:lpstr>
      <vt:lpstr>游明朝</vt:lpstr>
      <vt:lpstr>Arial</vt:lpstr>
      <vt:lpstr>Calibri</vt:lpstr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最後に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解説①　ヒト認識</dc:title>
  <dc:creator>L017</dc:creator>
  <cp:lastModifiedBy>藤本 昭</cp:lastModifiedBy>
  <cp:revision>811</cp:revision>
  <cp:lastPrinted>2017-02-09T05:03:12Z</cp:lastPrinted>
  <dcterms:created xsi:type="dcterms:W3CDTF">2011-06-01T04:12:18Z</dcterms:created>
  <dcterms:modified xsi:type="dcterms:W3CDTF">2025-05-27T05:55:10Z</dcterms:modified>
</cp:coreProperties>
</file>